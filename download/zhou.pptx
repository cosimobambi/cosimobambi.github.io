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526" r:id="rId3"/>
    <p:sldId id="52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14" autoAdjust="0"/>
  </p:normalViewPr>
  <p:slideViewPr>
    <p:cSldViewPr showGuides="1">
      <p:cViewPr varScale="1">
        <p:scale>
          <a:sx n="60" d="100"/>
          <a:sy n="60" d="100"/>
        </p:scale>
        <p:origin x="1686" y="48"/>
      </p:cViewPr>
      <p:guideLst>
        <p:guide orient="horz" pos="2160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40158-4B7A-4961-AFE0-0131326DFFA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FC76F-E438-44EF-863B-01FC72A0525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/>
            </a:pPr>
            <a:fld id="{B7138FC8-8B32-47B3-B236-AB40958B20DE}" type="datetime1">
              <a:rPr kumimoji="1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47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/>
            </a:pPr>
            <a:fld id="{F4AA0648-C7EE-4A51-9167-55B1F05641F8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/>
            </a:pPr>
            <a:fld id="{1A92F8F6-BC94-4CEE-9F9C-BEE6B53B8C66}" type="datetime1">
              <a:rPr kumimoji="1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/>
            </a:pPr>
            <a:fld id="{184E9FB0-E1AA-4E3A-A540-4319BAAAD621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7451725" y="260350"/>
            <a:ext cx="1476375" cy="676275"/>
            <a:chOff x="1045" y="1008"/>
            <a:chExt cx="4307" cy="2016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hidden">
            <a:xfrm flipH="1">
              <a:off x="4393" y="1008"/>
              <a:ext cx="959" cy="9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hidden">
            <a:xfrm flipH="1">
              <a:off x="3263" y="1008"/>
              <a:ext cx="959" cy="9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hidden">
            <a:xfrm flipH="1">
              <a:off x="2138" y="1008"/>
              <a:ext cx="959" cy="961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hidden">
            <a:xfrm flipH="1">
              <a:off x="2138" y="2063"/>
              <a:ext cx="959" cy="9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hidden">
            <a:xfrm flipH="1">
              <a:off x="1045" y="2063"/>
              <a:ext cx="959" cy="9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hidden">
            <a:xfrm flipH="1">
              <a:off x="4393" y="2063"/>
              <a:ext cx="959" cy="961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</p:grpSp>
      <p:pic>
        <p:nvPicPr>
          <p:cNvPr id="11" name="Picture 15" descr="fudan霓虹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5373688"/>
            <a:ext cx="126206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539750" y="765175"/>
            <a:ext cx="7772400" cy="230346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52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2845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600">
                <a:ea typeface="华文隶书" panose="02010800040101010101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47637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4BFCC-53B9-4845-9F90-D6561D91E716}" type="datetime3">
              <a:rPr lang="zh-CN" altLang="en-US"/>
            </a:fld>
            <a:endParaRPr lang="en-US" altLang="zh-CN"/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1476375" y="6400800"/>
            <a:ext cx="6480175" cy="457200"/>
          </a:xfrm>
        </p:spPr>
        <p:txBody>
          <a:bodyPr/>
          <a:lstStyle>
            <a:lvl1pPr>
              <a:defRPr sz="1600" dirty="0" smtClean="0">
                <a:ea typeface="+mj-ea"/>
              </a:defRPr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27988" y="6400800"/>
            <a:ext cx="1116012" cy="457200"/>
          </a:xfrm>
        </p:spPr>
        <p:txBody>
          <a:bodyPr/>
          <a:lstStyle>
            <a:lvl1pPr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32CD2F4-2996-4474-B2AB-0EE6C55F9A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FE755-B5CB-47F5-98FA-3C33C92DFA2D}" type="datetime3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CF7D4-15AC-4298-849E-CFD08DC518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895A7-C2E6-43E8-BC60-8D2EC055209E}" type="datetime3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A349B-BFE1-4BED-BFF4-0719433BCF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00213"/>
            <a:ext cx="4038600" cy="4430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38600" cy="44307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4797F-E8D6-4EDE-9D31-8BE35D1DE9D4}" type="datetime3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E9BF3-3470-4F62-9A1B-58552E26BC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54B21-6474-417A-A252-C651B44BA521}" type="datetime3">
              <a:rPr lang="zh-CN" altLang="en-US"/>
            </a:fld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D8475-A26D-4CCA-AE50-3623486E49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59892-EA97-4FF7-9425-95AC4365C93E}" type="datetime3">
              <a:rPr lang="zh-CN" altLang="en-US"/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F29D46-8738-44F9-B12D-E41B645280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AF39A-4B82-4A71-9029-760DDBCA852A}" type="datetime3">
              <a:rPr lang="zh-CN" altLang="en-US"/>
            </a:fld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42347-7ADE-4430-B65E-BAAF9326A1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FE8B9-0078-4CD2-AD87-05355E8C89F0}" type="datetime3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AE247-3F79-4F64-9631-17B0EB97ED7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2B121-8A7A-4A77-BF9C-F730E859387A}" type="datetime3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FCA5F-6018-433A-95D8-726079B4DF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D7B52-86AD-43F3-AAFB-AA7E69621948}" type="datetime3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0363-8E38-4882-9EA5-47E3B7DA60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62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62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6EA1D-1D18-452C-B118-59298E2FD759}" type="datetime3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8052D-E4AC-46B8-A9C4-99ACBF73187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700213"/>
            <a:ext cx="8229600" cy="443071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B4E5C-DE3B-4AF3-B9FE-B080860497F5}" type="datetime3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190D8-C366-4E97-B5EF-9AF1D38F7A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700213"/>
            <a:ext cx="4038600" cy="21383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00213"/>
            <a:ext cx="4038600" cy="21383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90975"/>
            <a:ext cx="4038600" cy="21399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90975"/>
            <a:ext cx="4038600" cy="21399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5C6B8-55B1-42B4-8871-9E7CDE76F830}" type="datetime3">
              <a:rPr lang="zh-CN" altLang="en-US"/>
            </a:fld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D7F37-3F18-4483-8960-23D84B1632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00213"/>
            <a:ext cx="4038600" cy="4430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38600" cy="4430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3E1A3-1A63-4383-BA33-E8B510ED231B}" type="datetime3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F8161-DB44-480D-9E56-F0C992826FA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00213"/>
            <a:ext cx="4038600" cy="4430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00213"/>
            <a:ext cx="4038600" cy="21383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90975"/>
            <a:ext cx="4038600" cy="21399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43F04-94C3-4BD9-9418-7F58B19FF0DB}" type="datetime3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F6E5B-01A2-4F5E-98A8-0B2B111C24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00213"/>
            <a:ext cx="4038600" cy="4430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700213"/>
            <a:ext cx="4038600" cy="443071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8FDA4-1E1D-4A47-AEB5-E7CF408B35A9}" type="datetime3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822BE-2ECA-46EF-8441-084AEE4518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6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B7792-8954-499D-B1A3-ABEF0D8C2673}" type="datetime3">
              <a:rPr lang="zh-CN" altLang="en-US"/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46C75-BA76-4449-B9FB-3BB0C2C26B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png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5076825" y="333375"/>
            <a:ext cx="3581400" cy="503238"/>
            <a:chOff x="675" y="192"/>
            <a:chExt cx="4797" cy="697"/>
          </a:xfrm>
        </p:grpSpPr>
        <p:sp>
          <p:nvSpPr>
            <p:cNvPr id="1033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5" cy="69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034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035" name="Oval 5"/>
            <p:cNvSpPr>
              <a:spLocks noChangeArrowheads="1"/>
            </p:cNvSpPr>
            <p:nvPr/>
          </p:nvSpPr>
          <p:spPr bwMode="hidden">
            <a:xfrm flipH="1">
              <a:off x="675" y="192"/>
              <a:ext cx="695" cy="69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036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037" name="Oval 7"/>
            <p:cNvSpPr>
              <a:spLocks noChangeArrowheads="1"/>
            </p:cNvSpPr>
            <p:nvPr/>
          </p:nvSpPr>
          <p:spPr bwMode="hidden">
            <a:xfrm flipH="1">
              <a:off x="1485" y="192"/>
              <a:ext cx="695" cy="69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/>
            </a:p>
          </p:txBody>
        </p:sp>
      </p:grp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426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593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FontTx/>
              <a:buNone/>
              <a:defRPr kumimoji="0" sz="1000">
                <a:latin typeface="+mn-lt"/>
              </a:defRPr>
            </a:lvl1pPr>
          </a:lstStyle>
          <a:p>
            <a:pPr>
              <a:defRPr/>
            </a:pPr>
            <a:fld id="{25C8679B-DB70-47C7-B9BD-E4AC1D0EED46}" type="datetime3">
              <a:rPr lang="zh-CN" altLang="en-US"/>
            </a:fld>
            <a:endParaRPr lang="en-US" altLang="zh-CN"/>
          </a:p>
        </p:txBody>
      </p:sp>
      <p:sp>
        <p:nvSpPr>
          <p:cNvPr id="22426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19250" y="6400800"/>
            <a:ext cx="6481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buFontTx/>
              <a:buNone/>
              <a:defRPr kumimoji="0" sz="1400" dirty="0" smtClean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Digital Communications  Department of Communication Science and Engineering, </a:t>
            </a:r>
            <a:r>
              <a:rPr lang="en-US" altLang="zh-CN" err="1"/>
              <a:t>Fudan</a:t>
            </a:r>
            <a:r>
              <a:rPr lang="en-US" altLang="zh-CN"/>
              <a:t> University</a:t>
            </a:r>
            <a:endParaRPr lang="en-US" altLang="zh-CN"/>
          </a:p>
        </p:txBody>
      </p:sp>
      <p:sp>
        <p:nvSpPr>
          <p:cNvPr id="22426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4250" y="6597650"/>
            <a:ext cx="539750" cy="26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kumimoji="0" sz="1200">
                <a:ea typeface="+mn-ea"/>
              </a:defRPr>
            </a:lvl1pPr>
          </a:lstStyle>
          <a:p>
            <a:pPr>
              <a:defRPr/>
            </a:pPr>
            <a:fld id="{9C95708D-330B-4055-982E-61ACF5AD72B4}" type="slidenum">
              <a:rPr lang="en-US" altLang="zh-CN"/>
            </a:fld>
            <a:endParaRPr lang="en-US" altLang="zh-CN"/>
          </a:p>
        </p:txBody>
      </p:sp>
      <p:sp>
        <p:nvSpPr>
          <p:cNvPr id="103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1032" name="Picture 14" descr="fudan霓虹"/>
          <p:cNvPicPr>
            <a:picLocks noChangeAspect="1" noChangeArrowheads="1"/>
          </p:cNvPicPr>
          <p:nvPr/>
        </p:nvPicPr>
        <p:blipFill>
          <a:blip r:embed="rId1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38" y="5373688"/>
            <a:ext cx="12620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0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1"/>
        </a:buBlip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2"/>
        </a:buBlip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Blip>
          <a:blip r:embed="rId23"/>
        </a:buBlip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4"/>
        </a:buBlip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4"/>
        </a:buBlip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4"/>
        </a:buBlip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4"/>
        </a:buBlip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Blip>
          <a:blip r:embed="rId24"/>
        </a:buBlip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029EE3-422F-44BA-9007-643BDC375AA9}" type="datetime3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4C6E4C-16B9-43A9-A88E-FBA830574FB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charset="-122"/>
              <a:cs typeface="+mn-cs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2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Basic Information</a:t>
            </a:r>
            <a:endParaRPr lang="zh-CN" altLang="en-US" sz="4200" b="1" i="1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746516" name="Group 20"/>
          <p:cNvGraphicFramePr>
            <a:graphicFrameLocks noGrp="1"/>
          </p:cNvGraphicFramePr>
          <p:nvPr>
            <p:ph idx="1"/>
          </p:nvPr>
        </p:nvGraphicFramePr>
        <p:xfrm>
          <a:off x="62629" y="1052513"/>
          <a:ext cx="8928971" cy="3108960"/>
        </p:xfrm>
        <a:graphic>
          <a:graphicData uri="http://schemas.openxmlformats.org/drawingml/2006/table">
            <a:tbl>
              <a:tblPr/>
              <a:tblGrid>
                <a:gridCol w="1110569"/>
                <a:gridCol w="7818402"/>
              </a:tblGrid>
              <a:tr h="1890713">
                <a:tc>
                  <a:txBody>
                    <a:bodyPr/>
                    <a:lstStyle/>
                    <a:p>
                      <a:pPr marL="984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Introduc-</a:t>
                      </a:r>
                      <a:endParaRPr lang="en-US" altLang="zh-CN" sz="16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842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tion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45" marR="0" lvl="0" indent="-36004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n"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Since 2007, </a:t>
                      </a:r>
                      <a:r>
                        <a:rPr lang="en-US" altLang="zh-CN" sz="2200" b="1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Department of Communication</a:t>
                      </a:r>
                      <a:endParaRPr lang="en-US" altLang="zh-CN" sz="2200" b="1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       Science and Engineering, 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Fudan University, 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Associate Professor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0" indent="-36004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n"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2005-2006, Monash University, Australia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Academi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 Researcher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0" indent="-36004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2003-2005, Bell Lab, Nokia </a:t>
                      </a:r>
                      <a:r>
                        <a:rPr kumimoji="0" lang="en-US" altLang="zh-CN" sz="2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-Bell, 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Research Scientist 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0" indent="-3600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2000-2003, Department of Electronic  Engineering,      </a:t>
                      </a:r>
                      <a:endParaRPr kumimoji="0" lang="en-US" altLang="zh-CN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Shanghai </a:t>
                      </a:r>
                      <a:r>
                        <a:rPr kumimoji="0" lang="en-US" altLang="zh-CN" sz="2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Jiaotong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University</a:t>
                      </a:r>
                      <a:r>
                        <a:rPr kumimoji="0" lang="zh-CN" altLang="en-US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PhD.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6528" name="Group 32"/>
          <p:cNvGraphicFramePr>
            <a:graphicFrameLocks noGrp="1"/>
          </p:cNvGraphicFramePr>
          <p:nvPr/>
        </p:nvGraphicFramePr>
        <p:xfrm>
          <a:off x="62629" y="4359275"/>
          <a:ext cx="8917751" cy="2368550"/>
        </p:xfrm>
        <a:graphic>
          <a:graphicData uri="http://schemas.openxmlformats.org/drawingml/2006/table">
            <a:tbl>
              <a:tblPr/>
              <a:tblGrid>
                <a:gridCol w="1109172"/>
                <a:gridCol w="7808579"/>
              </a:tblGrid>
              <a:tr h="2368550">
                <a:tc>
                  <a:txBody>
                    <a:bodyPr/>
                    <a:lstStyle/>
                    <a:p>
                      <a:pPr marL="984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15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Research Fields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0045" marR="0" lvl="1" indent="-3600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en-US" altLang="zh-CN" sz="2000" b="1" u="sng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Quantum Communications </a:t>
                      </a:r>
                      <a:endParaRPr kumimoji="0" lang="en-US" altLang="zh-CN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1" indent="-3600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en-US" altLang="zh-CN" sz="2000" b="1" u="sng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Photon-Counting Communications for Deep-Space </a:t>
                      </a:r>
                      <a:endParaRPr kumimoji="0" lang="en-US" altLang="zh-CN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1" indent="-36004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n"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Fifth Generation Mobile Communication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(5G) 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Systems</a:t>
                      </a:r>
                      <a:endParaRPr kumimoji="0" lang="en-US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1" indent="-3600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AI Technology for Wireless Communications</a:t>
                      </a:r>
                      <a:endParaRPr kumimoji="0" lang="en-US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60045" marR="0" lvl="1" indent="-3600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Char char="n"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Multi-Input Multi-Output Orthogonal Frequency-Division Multiplexing (MIMO-OFDM) Broadband Mobile Communication Systems</a:t>
                      </a:r>
                      <a:endParaRPr kumimoji="0" lang="en-US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52400"/>
            <a:ext cx="1593850" cy="2204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CF61C5-7A29-4362-A338-230291818F29}" type="datetime3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5F2ECE-B583-4FB5-8476-9BF20F079EE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charset="-122"/>
              <a:cs typeface="+mn-cs"/>
            </a:endParaRPr>
          </a:p>
        </p:txBody>
      </p:sp>
      <p:sp>
        <p:nvSpPr>
          <p:cNvPr id="74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2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Research Experience</a:t>
            </a:r>
            <a:endParaRPr lang="zh-CN" altLang="en-US" sz="4200" b="1" i="1" dirty="0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748564" name="Group 20"/>
          <p:cNvGraphicFramePr>
            <a:graphicFrameLocks noGrp="1"/>
          </p:cNvGraphicFramePr>
          <p:nvPr>
            <p:ph idx="1"/>
          </p:nvPr>
        </p:nvGraphicFramePr>
        <p:xfrm>
          <a:off x="177800" y="1052513"/>
          <a:ext cx="8763000" cy="5346192"/>
        </p:xfrm>
        <a:graphic>
          <a:graphicData uri="http://schemas.openxmlformats.org/drawingml/2006/table">
            <a:tbl>
              <a:tblPr/>
              <a:tblGrid>
                <a:gridCol w="748795"/>
                <a:gridCol w="8014205"/>
              </a:tblGrid>
              <a:tr h="3868738">
                <a:tc>
                  <a:txBody>
                    <a:bodyPr/>
                    <a:lstStyle/>
                    <a:p>
                      <a:pPr marL="984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/>
                        <a:t>Projects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</a:t>
                      </a:r>
                      <a:r>
                        <a:rPr lang="en-US" altLang="zh-CN" sz="18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sym typeface="+mn-ea"/>
                        </a:rPr>
                        <a:t>National Natural Science Foundation of China</a:t>
                      </a:r>
                      <a:r>
                        <a:rPr lang="en-US" altLang="zh-CN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sym typeface="+mn-ea"/>
                        </a:rPr>
                        <a:t> (</a:t>
                      </a:r>
                      <a:r>
                        <a:rPr lang="en-US" altLang="zh-CN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sym typeface="+mn-ea"/>
                        </a:rPr>
                        <a:t>No.60802011、No.61571135、No. 6271137</a:t>
                      </a:r>
                      <a:r>
                        <a:rPr lang="en-US" altLang="zh-CN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sym typeface="+mn-ea"/>
                        </a:rPr>
                        <a:t>)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  </a:t>
                      </a:r>
                      <a:r>
                        <a:rPr lang="en-US" altLang="zh-CN" sz="18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project leader 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i="0" kern="120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2. </a:t>
                      </a:r>
                      <a:r>
                        <a:rPr lang="en-US" altLang="zh-CN" sz="1800" b="1" i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Major</a:t>
                      </a:r>
                      <a:r>
                        <a:rPr lang="en-US" altLang="zh-CN" sz="1800" b="1" i="0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Project of Chinese </a:t>
                      </a:r>
                      <a:r>
                        <a:rPr lang="en-US" altLang="zh-CN" sz="1800" b="1" i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National Science and Technology 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“A new generation of wireless mobile communication networks” TD-LTE(No.2009ZX03002-003) /TD-LTE-Advanced (No.2012ZX03001013-004), project leader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3. 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863 State High-Tech Development Plan</a:t>
                      </a:r>
                      <a:r>
                        <a:rPr kumimoji="0" lang="zh-CN" alt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(No. 2011AA100701)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4. 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Research of the forth generation (4G) mobile communication system </a:t>
                      </a:r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i="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   Source: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France's communications co.</a:t>
                      </a:r>
                      <a:r>
                        <a:rPr kumimoji="0" lang="en-US" altLang="zh-CN" sz="1800" i="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, LTD </a:t>
                      </a:r>
                      <a:r>
                        <a:rPr kumimoji="0" lang="en-US" altLang="zh-CN" sz="180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My role: Take part </a:t>
                      </a:r>
                      <a:r>
                        <a:rPr lang="en-US" altLang="zh-CN" sz="1800" i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in architecture design of the next-generation mobile communication network, the physical link level simulation, and the research of 4G system demonstration media access layer.</a:t>
                      </a:r>
                      <a:endParaRPr lang="en-US" altLang="zh-CN" sz="1800" i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5. 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Research of a new generation (beyond-3G) mobile communication system</a:t>
                      </a:r>
                      <a:endParaRPr kumimoji="0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288290" marR="0" lvl="0" indent="-25209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800" i="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   Source: National ‘863’ program </a:t>
                      </a:r>
                      <a:r>
                        <a:rPr kumimoji="0" lang="en-US" altLang="zh-CN" sz="1800" i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(No.2001AA121031) </a:t>
                      </a:r>
                      <a:r>
                        <a:rPr kumimoji="0" lang="en-US" altLang="zh-CN" sz="180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My role: Participate as a core member on the research of key technology of beyond-3G and 4G like the orthogonal frequency-division multiplexing (OFDM), space-time coding.</a:t>
                      </a:r>
                      <a:endParaRPr kumimoji="0" lang="en-US" altLang="zh-CN" sz="180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华文新魏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0</TotalTime>
  <Words>1661</Words>
  <Application>WPS 演示</Application>
  <PresentationFormat>全屏显示(4:3)</PresentationFormat>
  <Paragraphs>42</Paragraphs>
  <Slides>2</Slides>
  <Notes>16</Notes>
  <HiddenSlides>0</HiddenSlides>
  <MMClips>2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7" baseType="lpstr">
      <vt:lpstr>Arial</vt:lpstr>
      <vt:lpstr>宋体</vt:lpstr>
      <vt:lpstr>Wingdings</vt:lpstr>
      <vt:lpstr>Wingdings 2</vt:lpstr>
      <vt:lpstr>Calibri</vt:lpstr>
      <vt:lpstr>Times New Roman</vt:lpstr>
      <vt:lpstr>华文新魏</vt:lpstr>
      <vt:lpstr>华文隶书</vt:lpstr>
      <vt:lpstr>Arial</vt:lpstr>
      <vt:lpstr>华文楷体</vt:lpstr>
      <vt:lpstr>Garamond</vt:lpstr>
      <vt:lpstr>华文行楷</vt:lpstr>
      <vt:lpstr>黑体</vt:lpstr>
      <vt:lpstr>Helvetica</vt:lpstr>
      <vt:lpstr>仿宋_GB2312</vt:lpstr>
      <vt:lpstr>仿宋</vt:lpstr>
      <vt:lpstr>Tahoma</vt:lpstr>
      <vt:lpstr>微软雅黑</vt:lpstr>
      <vt:lpstr>Arial Unicode MS</vt:lpstr>
      <vt:lpstr>FuturaA Bk BT</vt:lpstr>
      <vt:lpstr>ksdb</vt:lpstr>
      <vt:lpstr>Yu Mincho</vt:lpstr>
      <vt:lpstr>Century Gothic</vt:lpstr>
      <vt:lpstr>幼圆</vt:lpstr>
      <vt:lpstr>Watermark</vt:lpstr>
      <vt:lpstr>Basic Information</vt:lpstr>
      <vt:lpstr>Research Experience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Read a Research Paper</dc:title>
  <dc:creator>Tamer M. Elsayed</dc:creator>
  <cp:lastModifiedBy>坨</cp:lastModifiedBy>
  <cp:revision>280</cp:revision>
  <dcterms:created xsi:type="dcterms:W3CDTF">2012-07-03T03:47:00Z</dcterms:created>
  <dcterms:modified xsi:type="dcterms:W3CDTF">2026-03-14T05:15:24Z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2913E2F03FDE4304A15A5B3532F831B7_13</vt:lpwstr>
  </property>
  <property fmtid="{D5CDD505-2E9C-101B-9397-08002B2CF9AE}" pid="3" name="KSOProductBuildVer">
    <vt:lpwstr>2052-12.1.0.25225</vt:lpwstr>
  </property>
</Properties>
</file>